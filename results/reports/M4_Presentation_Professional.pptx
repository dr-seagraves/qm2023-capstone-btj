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B"/>
                </a:solidFill>
              </a:rPr>
              <a:t>REIT Return Sensitivity to Interest Rate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8988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Final Investment Memo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201168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B"/>
                </a:solidFill>
              </a:rPr>
              <a:t>Main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</a:rPr>
              <a:t>Higher interest rates tend to pressure REIT returns, but the evidence is not strong enough for a bold trade.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120640" cy="2011680"/>
          </a:xfrm>
          <a:prstGeom prst="roundRect">
            <a:avLst/>
          </a:prstGeom>
          <a:solidFill>
            <a:srgbClr val="E1F5F5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B"/>
                </a:solidFill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</a:rPr>
              <a:t>Josh Love
Brody Duffel
Tallulah Pascucci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May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B"/>
                </a:solidFill>
              </a:rPr>
              <a:t>What We Studied</a:t>
            </a:r>
          </a:p>
          <a:p>
            <a:r>
              <a:rPr sz="1100">
                <a:solidFill>
                  <a:srgbClr val="1F2937"/>
                </a:solidFill>
              </a:rPr>
              <a:t>Monthly REIT returns, the Federal Funds Rate, and a simple question: do higher rates hurt REITs?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4617720" cy="4526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367 REITs</a:t>
            </a:r>
          </a:p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47,695 monthly observations</a:t>
            </a:r>
          </a:p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Time period: 1986-2024</a:t>
            </a:r>
          </a:p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Main driver: Federal Funds Rate</a:t>
            </a:r>
          </a:p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Main outcome: monthly REIT return</a:t>
            </a:r>
          </a:p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We also checked whether a more complex prediction model helped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280160"/>
            <a:ext cx="6126480" cy="452628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2_plot3_dual_axis_return_fed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00200"/>
            <a:ext cx="5715000" cy="28196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356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REIT returns and rates move in opposite directions, but the pattern is noisy.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B"/>
                </a:solidFill>
              </a:rPr>
              <a:t>Main Result</a:t>
            </a:r>
          </a:p>
          <a:p>
            <a:r>
              <a:rPr sz="1100">
                <a:solidFill>
                  <a:srgbClr val="1F2937"/>
                </a:solidFill>
              </a:rPr>
              <a:t>The sign is negative, but the clustered estimate is too imprecise to be a strong trading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4892040" cy="452628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B"/>
                </a:solidFill>
              </a:rPr>
              <a:t>1 percentage point higher Fed Funds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8D4"/>
                </a:solidFill>
              </a:rPr>
              <a:t>about 1.34 percentage points lower REIT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with a 12-month lag, but not statistically strong after clustered standard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234440"/>
            <a:ext cx="5852160" cy="4526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3_residuals_vs_f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63040"/>
            <a:ext cx="5303520" cy="3182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51937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Residuals are noisy, which is common for return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B"/>
                </a:solidFill>
              </a:rPr>
              <a:t>Why This Makes Sense</a:t>
            </a:r>
          </a:p>
          <a:p>
            <a:r>
              <a:rPr sz="1100">
                <a:solidFill>
                  <a:srgbClr val="1F2937"/>
                </a:solidFill>
              </a:rPr>
              <a:t>The result matches three simple economic channels.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063240" cy="214884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B"/>
                </a:solidFill>
              </a:rPr>
              <a:t>Leverage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Borrowing costs go up when rates 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3063240" cy="2148840"/>
          </a:xfrm>
          <a:prstGeom prst="roundRect">
            <a:avLst/>
          </a:prstGeom>
          <a:solidFill>
            <a:srgbClr val="E1F5F5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B"/>
                </a:solidFill>
              </a:rPr>
              <a:t>Discount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0574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Future cash flows are worth 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417320"/>
            <a:ext cx="306324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9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B"/>
                </a:solidFill>
              </a:rPr>
              <a:t>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0574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Tighter policy can slow the property market.</a:t>
            </a:r>
          </a:p>
        </p:txBody>
      </p:sp>
      <p:pic>
        <p:nvPicPr>
          <p:cNvPr id="13" name="Picture 12" descr="M3_qq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886200"/>
            <a:ext cx="6309360" cy="47320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51760" y="58978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</a:rPr>
              <a:t>The error pattern is not perfectly normal, so we rely on robust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B"/>
                </a:solidFill>
              </a:rPr>
              <a:t>Did the Model Hold Up?</a:t>
            </a:r>
          </a:p>
          <a:p>
            <a:r>
              <a:rPr sz="1100">
                <a:solidFill>
                  <a:srgbClr val="1F2937"/>
                </a:solidFill>
              </a:rPr>
              <a:t>We checked the main problems a panel model can have.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486400" cy="4526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We found heteroskedasticity, so clustered standard errors were the right choice.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The macro variables are somewhat related, so we kept the model simple.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Different lags and crisis-period checks gave the same broad message: negative sign, weak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5257800" cy="196596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B"/>
                </a:solidFill>
              </a:rPr>
              <a:t>Breusch-Pagan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</a:rPr>
              <a:t>p-value ~ 5.0e-126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429000"/>
            <a:ext cx="5257800" cy="2331720"/>
          </a:xfrm>
          <a:prstGeom prst="roundRect">
            <a:avLst/>
          </a:prstGeom>
          <a:solidFill>
            <a:srgbClr val="E1F5F5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703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B"/>
                </a:solidFill>
              </a:rPr>
              <a:t>Max VIF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</a:rPr>
              <a:t>8.40 for UNRATE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60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That means the macro controls are somewhat collinear, so simpler is better.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B"/>
                </a:solidFill>
              </a:rPr>
              <a:t>Prediction Check</a:t>
            </a:r>
          </a:p>
          <a:p>
            <a:r>
              <a:rPr sz="1100">
                <a:solidFill>
                  <a:srgbClr val="1F2937"/>
                </a:solidFill>
              </a:rPr>
              <a:t>A more complex model did not improve out-of-sample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4389120" cy="438912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We compared OLS with Random Forest.</a:t>
            </a:r>
          </a:p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OLS did better out of sample.</a:t>
            </a:r>
          </a:p>
          <a:p>
            <a:pPr>
              <a:spcAft>
                <a:spcPts val="600"/>
              </a:spcAft>
              <a:defRPr sz="2000">
                <a:solidFill>
                  <a:srgbClr val="1F2937"/>
                </a:solidFill>
              </a:defRPr>
            </a:pPr>
            <a:r>
              <a:t>Random Forest did not improve prediction.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280160"/>
            <a:ext cx="2743200" cy="4389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B"/>
                </a:solidFill>
              </a:rPr>
              <a:t>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8D4"/>
                </a:solidFill>
              </a:rPr>
              <a:t>R² = 0.0032
RMSE = 0.1029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B"/>
                </a:solidFill>
              </a:rP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999"/>
                </a:solidFill>
              </a:rPr>
              <a:t>R² = -0.0788
RMSE = 0.1070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80160"/>
            <a:ext cx="3429000" cy="438912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3_modelB_actual_vs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00200"/>
            <a:ext cx="3063240" cy="16708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760" y="49194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</a:rPr>
              <a:t>The simple model is still the better 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3B"/>
                </a:solidFill>
              </a:rPr>
              <a:t>Recommendation and Risks</a:t>
            </a:r>
          </a:p>
          <a:p>
            <a:r>
              <a:rPr sz="1100">
                <a:solidFill>
                  <a:srgbClr val="1F2937"/>
                </a:solidFill>
              </a:rPr>
              <a:t>Stay cautious, selective, and honest about what the data can and cannot show.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577840" cy="4526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83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Keep a neutral REIT stance.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Tilt slightly toward larger, lower-leverage names.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Do not make a huge portfolio move based only on short-term Fed changes.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Be honest about limits: other shocks matter, and sector variation is limited.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5257800" cy="1828800"/>
          </a:xfrm>
          <a:prstGeom prst="roundRect">
            <a:avLst/>
          </a:prstGeom>
          <a:solidFill>
            <a:srgbClr val="E6F0FA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8191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B"/>
                </a:solidFill>
              </a:rPr>
              <a:t>Bottom line: higher rates and REIT returns move in opposite directions, but the evidence is not strong enough to support a dramatic trade.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37560"/>
            <a:ext cx="5257800" cy="2423160"/>
          </a:xfrm>
          <a:prstGeom prst="roundRect">
            <a:avLst/>
          </a:prstGeom>
          <a:solidFill>
            <a:srgbClr val="E1F5F5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B"/>
                </a:solidFill>
              </a:rPr>
              <a:t>If rates fall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0690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REITs could recover somewhat. We treat that as a scenario, not a sure forecast.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892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</a:rPr>
              <a:t>Action: stay neutral and focus on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