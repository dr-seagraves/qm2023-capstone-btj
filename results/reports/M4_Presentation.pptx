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REIT Return Sensitivity to Interest Rate Policy</a:t>
            </a:r>
          </a:p>
          <a:p>
            <a:r>
              <a:rPr sz="1600">
                <a:solidFill>
                  <a:srgbClr val="1F2937"/>
                </a:solidFill>
              </a:rPr>
              <a:t>Final Investment Memo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F2937"/>
                </a:solidFill>
              </a:rPr>
              <a:t>Team: Josh Love, Brody Duffel, Tallulah Pascucci</a:t>
            </a:r>
          </a:p>
          <a:p>
            <a:r>
              <a:rPr sz="2200">
                <a:solidFill>
                  <a:srgbClr val="0078D4"/>
                </a:solidFill>
              </a:rPr>
              <a:t>Main idea: higher rates tend to pressure REIT returns, but the evidence is not strong enough for a bold trade.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What We Studied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367 REITs</a:t>
            </a:r>
          </a:p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Monthly data from 1986 to 2024</a:t>
            </a:r>
          </a:p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Main driver: Federal Funds Rate</a:t>
            </a:r>
          </a:p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Main outcome: monthly REIT return</a:t>
            </a:r>
          </a:p>
          <a:p>
            <a:pPr>
              <a:spcAft>
                <a:spcPts val="800"/>
              </a:spcAft>
              <a:defRPr sz="2200">
                <a:solidFill>
                  <a:srgbClr val="1F2937"/>
                </a:solidFill>
              </a:defRPr>
            </a:pPr>
            <a:r>
              <a:t>We also checked a more complex prediction model</a:t>
            </a:r>
          </a:p>
        </p:txBody>
      </p:sp>
      <p:pic>
        <p:nvPicPr>
          <p:cNvPr id="4" name="Picture 3" descr="M2_plot3_dual_axis_return_fed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486400" cy="2706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A 1 percentage point increase in the Federal Funds Rate is linked to about a 1.34 percentage point drop in REIT returns after a 12-month lag.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When we use clustered standard errors, the effect is not statistically strong enough to call it a firm result.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Bottom line: the direction makes sense, but we should not overstate it.</a:t>
            </a:r>
          </a:p>
        </p:txBody>
      </p:sp>
      <p:pic>
        <p:nvPicPr>
          <p:cNvPr id="4" name="Picture 3" descr="M3_residuals_vs_fit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3776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Why This Makes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F2937"/>
                </a:solidFill>
              </a:defRPr>
            </a:pPr>
            <a:r>
              <a:t>Leverage channel: borrowing becomes more expensive.</a:t>
            </a:r>
          </a:p>
          <a:p>
            <a:pPr>
              <a:spcAft>
                <a:spcPts val="800"/>
              </a:spcAft>
              <a:defRPr sz="2400">
                <a:solidFill>
                  <a:srgbClr val="1F2937"/>
                </a:solidFill>
              </a:defRPr>
            </a:pPr>
            <a:r>
              <a:t>Discount-rate channel: future cash flows are worth less.</a:t>
            </a:r>
          </a:p>
          <a:p>
            <a:pPr>
              <a:spcAft>
                <a:spcPts val="800"/>
              </a:spcAft>
              <a:defRPr sz="2400">
                <a:solidFill>
                  <a:srgbClr val="1F2937"/>
                </a:solidFill>
              </a:defRPr>
            </a:pPr>
            <a:r>
              <a:t>Demand channel: tighter policy can slow the property market.</a:t>
            </a:r>
          </a:p>
        </p:txBody>
      </p:sp>
      <p:pic>
        <p:nvPicPr>
          <p:cNvPr id="4" name="Picture 3" descr="M3_qq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Did the Model Hold Up?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We found heteroskedasticity, so clustered standard errors were the right choice.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The macro variables are somewhat related, so we kept the model simple.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Different lags and crisis-period checks gave the same broad message: negative sign, weak precision.</a:t>
            </a:r>
          </a:p>
        </p:txBody>
      </p:sp>
      <p:pic>
        <p:nvPicPr>
          <p:cNvPr id="4" name="Picture 3" descr="M3_modelB_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00200"/>
            <a:ext cx="4663440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Prediction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F2937"/>
                </a:solidFill>
              </a:defRPr>
            </a:pPr>
            <a:r>
              <a:t>We compared OLS with Random Forest.</a:t>
            </a:r>
          </a:p>
          <a:p>
            <a:pPr>
              <a:spcAft>
                <a:spcPts val="800"/>
              </a:spcAft>
              <a:defRPr sz="2400">
                <a:solidFill>
                  <a:srgbClr val="1F2937"/>
                </a:solidFill>
              </a:defRPr>
            </a:pPr>
            <a:r>
              <a:t>OLS did better out of sample.</a:t>
            </a:r>
          </a:p>
          <a:p>
            <a:pPr>
              <a:spcAft>
                <a:spcPts val="800"/>
              </a:spcAft>
              <a:defRPr sz="2400">
                <a:solidFill>
                  <a:srgbClr val="1F2937"/>
                </a:solidFill>
              </a:defRPr>
            </a:pPr>
            <a:r>
              <a:t>That means the simple regression is the better story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554480"/>
            <a:ext cx="5303520" cy="3108960"/>
          </a:xfrm>
          <a:prstGeom prst="rect">
            <a:avLst/>
          </a:prstGeom>
          <a:solidFill>
            <a:srgbClr val="F3F2F1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1920240"/>
            <a:ext cx="493776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2937"/>
                </a:solidFill>
              </a:rPr>
              <a:t>OLS test R2: 0.0032
RMSE: 0.1029
Random Forest test R2: -0.0788
RMSE: 0.1070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2D52"/>
                </a:solidFill>
              </a:rPr>
              <a:t>Recommendation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6309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Keep a neutral REIT stance.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Tilt slightly toward larger, lower-leverage names.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Do not make a huge portfolio move based only on short-term Fed changes.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Be honest about limits: other shocks matter, and sector variation is limited.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55448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D52"/>
                </a:solidFill>
              </a:rPr>
              <a:t>Bottom line:
Higher rates and REIT returns move in opposite directions, but the evidence is not strong enough to support a dramatic trade.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